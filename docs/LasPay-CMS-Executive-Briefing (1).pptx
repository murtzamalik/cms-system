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92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Thank you for the time today. This session gives senior management a business-level walkthrough of the LasPay Card Management System — what it does, how it protects the bank and the customer, and how the day-to-day card lifecycle actually works on screen. Each flow slide today also lists its key underlying APIs at a glance, with the full technical contract documented separately for engineering and integration teams.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for the session. We'll start with the business value and platform structure, then walk through the actual screens for the full card lifecycle — request, approval, generation, and ongoing operations — with the key API for each step shown alongside, and close with the security model and what's next. Questions are welcome throughout, but we'll also leave time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highest level, LasPay CMS gives us one controlled system for managing cards from request through to expiry and replacement — instead of relying on spreadsheets, email approvals, or disconnected tools. The two things I want you to hold onto through this deck are dual control — no single person can both request and approve a card — and visibility, through the dashboard and audit trail. Both are core to satisfying our compliance and risk requirements.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our five capability areas straight to business value. Card production is where dual control lives. Operations is the day-to-day work — most of the user base will live here. Housekeeping is how we keep product and limit data centrally governed rather than hard-coded. And security plus the dashboard are what give management and audit the confidence that the system is being used correctly.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organised into five functional areas, all reachable from the same navigation menu. Dashboard gives leadership visibility. Security governs who can do what. Operations is where card operators do day-to-day work. Card Production and Housekeeping together form the controlled pipeline for issuing new cards and maintaining the reference data behind them. This modular structure is what lets us scale the user base without losing control.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flagship flow and the one to remember: request, approve, generate, issue. Every new card in LasPay CMS goes through this exact sequence — there is no path that skips the checker approval step. If a request is rejected, it stops here with a full audit record. If approved, the card is generated, the card number is encrypted at rest, and — where required — the card is queued for export to our card bureau for physical production. We'll walk through each of these steps on real screens, with their underlying APIs, over the next several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keep this to one slide because the architecture detail belongs with our technical teams, not here. The important business takeaway is that it's a standard three-tier design: a browser-based portal, a secured REST API — core-service — that enforces every rule we're about to discuss, like dual control, and an Oracle database where card data is encrypted at rest. Every screen in this deck calls a small set of these APIs, which we'll point out flow by flow; the full endpoint catalogue lives in Appendix A of the business guide and in Swagger, not in this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ask you to remember above all others. Dual control is enforced in the system itself, not just in a written policy — the platform will not let a maker approve their own request. Access is role-based, so a card operator simply cannot see the housekeeping or security screens, and vice versa. Card numbers are masked everywhere in the interface, and every meaningful action — approvals, rejections, status changes, configuration changes — is logged for audit.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roles cover the full user population. Administrators are typically IT or system administration. Makers and Checkers are the two halves of dual control — usually branch operations staff and a supervisor respectively, and critically, never the same person for the same request. Card Operators handle search, status changes, and replacements day to day, and Card Viewers get read-only access for reporting or oversight without any ability to change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every session starts. A user signs in — authenticated by the login API you see listed — and lands straight on the dashboard, built from the dashboard-summary and menu APIs. For management, this dashboard is the single most useful screen in the system: pending approvals, requests in flight, cards issued today, and anything flagged as high-risk, all in one view, backed by two lightweight API calls.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lifecycle begins. A maker looks up the customer by relationship number — that's the customer-info API — completes the card details using the product, type, and branch dropdowns, and submits. Submitting only creates a pending request; nothing is issued until an independent checker reviews and approves it, which is our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dual control in practice. The checker — a different person from the maker, enforced by the system itself — pulls the checker queue, reviews the request, and either approves it, which calls straight through to card generation, or rejects it with a reason, which stops the process entirely and creates a permanent audit record.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approved, an operator loads the approved request — the request-by-code API — and processes generation. The card record is created, the PAN is encrypted immediately, and the progress API marks it processed so the same request can never be generated twice.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the individual operational actions, it's worth noting they all share one search experience and one small family of APIs. Whether an operator is changing a card's status, requesting a replacement, or preparing a bureau export, they get to the card the same way — a familiar, consistent search screen backed by the cards/search API. Note for the room: our source screenshots don't include a dedicated card-search capture, so this slide runs on the API and business detail alone.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changes are how we manage card risk day to day — for example flagging a card as 'Hot' if fraud is suspected. Just two APIs power this entire flow: search to find the card, and a single update call to apply the new status. That flag immediately surfaces on the dashboard we saw earlier, so risk and operations leadership see it in real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Replacement follows the same production discipline as a brand-new card — it doesn't bypass any of the controls we've already discussed. The replacement-request API marks the original inactive and creates a new request that flows straight back through approval and generation, so even a routine replacement is fully traceable.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us a controlled path for product upgrades or downgrades — for instance moving a customer from a standard card to a premium product — without having to close and reissue a completely new card. Again, just two APIs: find the card, then submit the type-change request.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more operationally valuable screens for a large card book. The expiry-search and bulk-renew APIs mean an operator can pull every card expiring in the next 30 or 60 days and action them in bulk, rather than processing renewals one at a time — a direct efficiency gain as our card base grows.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point to our physical card production partner. Only issued cards are eligible, and only users with explicit export permission can trigger it — export-ready lists the candidates, bulk-export generates the file, and export-file lets an authorised user download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configuration backbone behind everything we've seen so far. Branches, products, card types, and limit profiles are each their own small CRUD API and their own screen, all administrator-only — so when the business wants to launch a new card product or adjust a spending limit, it's a controlled configuration change, not a code change. Products screen is captured in the business guide too; showing card types and limit profiles here as the two most frequently touched by the business.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administrators define and maintain the role-based access model we introduced earlier — users, roles, permissions, and menus each have their own CRUD API, plus a dedicated call to assign roles to a user. It's worth emphasising: permission checks happen on the action itself, at the API level, so even if someone reached a screen they shouldn't, the underlying action would still be blocked. We're showing permissions and menu configuration here; user and role management follow the same pattern.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recap of everything we've just walked through, organised by the five modules we opened with. Every screen — and every API — we saw maps back to one of these areas. The full module and API reference lives in the business guide appendices for our QA and business teams.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deliberate note on the technical side: the platform runs a single REST API layer, core-service, with every endpoint under /api/ and secured with a JWT Bearer token. Rather than a separate technical appendix, we've put each flow's key APIs directly on its slide throughout this deck, so you've already seen most of what matters. For engineering and integration partners, the full endpoint contracts — request and response schemas — live in Swagger and in Appendix A of the business guide; we won't walk through those line by line here.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it back to the business case: this system reduces risk because dual control is enforced by software, not just policy. It removes manual, error-prone processes. It gives leadership a live view instead of waiting for a weekly report. And because product and limit configuration is centralised, launching a new card product is a configuration change, not a development project.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our risk and compliance stakeholders specifically. Dual control has no bypass. Card numbers are masked in every view and encrypted at rest. Access control is enforced twice — once at the screen level and again at the API level — and every meaningful action leaves an audit record. This is designed to hold up under regulatory review.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 need business and QA sign-off on UAT, final confirmation of who gets which role at go-live, a short training session for operators on exactly the screens we walked through today, and agreement on the go-live date and how support will work in the first few weeks. We can align on owners and dates for each of these right after this session.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covers the business walkthrough — the platform's structure, the full card lifecycle with dual control at its core, the dashboard KPIs, the APIs behind each screen, and the security and compliance posture. I'll open it up for questions now, and happy to go deeper on any specific flow, API, or roadmap item afterward.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SPAY_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A"/>
          </a:solidFill>
          <a:ln/>
        </p:spPr>
      </p:sp>
      <p:sp>
        <p:nvSpPr>
          <p:cNvPr id="3" name="Text 1"/>
          <p:cNvSpPr/>
          <p:nvPr/>
        </p:nvSpPr>
        <p:spPr>
          <a:xfrm>
            <a:off x="822960" y="2286000"/>
            <a:ext cx="10515600" cy="118872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LasPay Card Management System</a:t>
            </a:r>
            <a:endParaRPr lang="en-US" sz="4400" dirty="0"/>
          </a:p>
        </p:txBody>
      </p:sp>
      <p:sp>
        <p:nvSpPr>
          <p:cNvPr id="4" name="Text 2"/>
          <p:cNvSpPr/>
          <p:nvPr/>
        </p:nvSpPr>
        <p:spPr>
          <a:xfrm>
            <a:off x="822960" y="3337560"/>
            <a:ext cx="10515600" cy="640080"/>
          </a:xfrm>
          <a:prstGeom prst="rect">
            <a:avLst/>
          </a:prstGeom>
          <a:noFill/>
          <a:ln/>
        </p:spPr>
        <p:txBody>
          <a:bodyPr wrap="square" rtlCol="0" anchor="ctr"/>
          <a:lstStyle/>
          <a:p>
            <a:pPr marL="0" indent="0">
              <a:buNone/>
            </a:pPr>
            <a:r>
              <a:rPr lang="en-US" sz="2200" dirty="0">
                <a:solidFill>
                  <a:srgbClr val="D4D4D8"/>
                </a:solidFill>
                <a:latin typeface="Calibri" pitchFamily="34" charset="0"/>
                <a:ea typeface="Calibri" pitchFamily="34" charset="-122"/>
                <a:cs typeface="Calibri" pitchFamily="34" charset="-120"/>
              </a:rPr>
              <a:t>Business &amp; Operations Briefing for Senior Management</a:t>
            </a:r>
            <a:endParaRPr lang="en-US" sz="2200" dirty="0"/>
          </a:p>
        </p:txBody>
      </p:sp>
      <p:sp>
        <p:nvSpPr>
          <p:cNvPr id="5" name="Shape 3"/>
          <p:cNvSpPr/>
          <p:nvPr/>
        </p:nvSpPr>
        <p:spPr>
          <a:xfrm>
            <a:off x="822960" y="4160520"/>
            <a:ext cx="502920" cy="73152"/>
          </a:xfrm>
          <a:prstGeom prst="rect">
            <a:avLst/>
          </a:prstGeom>
          <a:solidFill>
            <a:srgbClr val="E31E24"/>
          </a:solidFill>
          <a:ln/>
        </p:spPr>
      </p:sp>
      <p:sp>
        <p:nvSpPr>
          <p:cNvPr id="6" name="Text 4"/>
          <p:cNvSpPr/>
          <p:nvPr/>
        </p:nvSpPr>
        <p:spPr>
          <a:xfrm>
            <a:off x="822960" y="6126480"/>
            <a:ext cx="9144000" cy="365760"/>
          </a:xfrm>
          <a:prstGeom prst="rect">
            <a:avLst/>
          </a:prstGeom>
          <a:noFill/>
          <a:ln/>
        </p:spPr>
        <p:txBody>
          <a:bodyPr wrap="square" rtlCol="0" anchor="ctr"/>
          <a:lstStyle/>
          <a:p>
            <a:pPr marL="0" indent="0">
              <a:buNone/>
            </a:pPr>
            <a:r>
              <a:rPr lang="en-US" sz="1300" dirty="0">
                <a:solidFill>
                  <a:srgbClr val="A1A1AA"/>
                </a:solidFill>
                <a:latin typeface="Calibri" pitchFamily="34" charset="0"/>
                <a:ea typeface="Calibri" pitchFamily="34" charset="-122"/>
                <a:cs typeface="Calibri" pitchFamily="34" charset="-120"/>
              </a:rPr>
              <a:t>Prepared by Karsaaz — CMS Delivery Team   |   August 2026   |   Confidential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AGENDA</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What We'll Cover Today</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The business case: what CMS does and why it matters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How the platform is organised and secured</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The card lifecycle, step by step — with live screens and key APIs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Dashboard KPIs, compliance controls, and next steps</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 / 27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A Secure, Controlled Platform for the Full Card Lifecycle</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One system for card production, day-to-day operations, and housekeeping — replacing manual, fragmented processes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Every card request passes through independent maker/checker approval before it is generated</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Role-based access means each user only sees the screens and actions relevant to their job</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Built-in dashboard gives operations leadership a real-time view of pending work and risk</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3 / 27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BUSINESS VALUE</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Key Capabilities &amp; Business Value</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Card production — controlled issuance with maker/checker approval before any card is generated</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Operations — search, status changes, replacements, and type changes for the full card book</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Housekeeping — central configuration of products, card types, limits, and branches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Security &amp; Dashboard — role-based access, encrypted sessions, and real-time operational KPIs</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4 / 27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PLATFORM</a:t>
            </a:r>
            <a:endParaRPr lang="en-US" sz="1200" dirty="0"/>
          </a:p>
        </p:txBody>
      </p:sp>
      <p:sp>
        <p:nvSpPr>
          <p:cNvPr id="4" name="Text 2"/>
          <p:cNvSpPr/>
          <p:nvPr/>
        </p:nvSpPr>
        <p:spPr>
          <a:xfrm>
            <a:off x="640080" y="841248"/>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Five Functional Areas, One Platform</a:t>
            </a:r>
            <a:endParaRPr lang="en-US" sz="3000" dirty="0"/>
          </a:p>
        </p:txBody>
      </p:sp>
      <p:sp>
        <p:nvSpPr>
          <p:cNvPr id="5" name="Text 3"/>
          <p:cNvSpPr/>
          <p:nvPr/>
        </p:nvSpPr>
        <p:spPr>
          <a:xfrm>
            <a:off x="640080" y="1828800"/>
            <a:ext cx="5120640" cy="393192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Dashboard — daily KPIs and operational queues</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Security — users, roles, and permissions</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Operations — card status, replacement, export</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Card Production &amp; Housekeeping — request, approve, generate, configure</a:t>
            </a:r>
            <a:endParaRPr lang="en-US" sz="1800" dirty="0"/>
          </a:p>
        </p:txBody>
      </p:sp>
      <p:sp>
        <p:nvSpPr>
          <p:cNvPr id="6" name="Shape 4"/>
          <p:cNvSpPr/>
          <p:nvPr/>
        </p:nvSpPr>
        <p:spPr>
          <a:xfrm>
            <a:off x="5943600" y="2377440"/>
            <a:ext cx="5577840" cy="2743200"/>
          </a:xfrm>
          <a:prstGeom prst="roundRect">
            <a:avLst>
              <a:gd name="adj" fmla="val 2000"/>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7" name="Image 0" descr="Diagram of the five LasPay CMS platform modules"/>
          <p:cNvPicPr>
            <a:picLocks noChangeAspect="1"/>
          </p:cNvPicPr>
          <p:nvPr/>
        </p:nvPicPr>
        <p:blipFill>
          <a:blip r:embed="rId3"/>
          <a:srcRect/>
          <a:stretch/>
        </p:blipFill>
        <p:spPr>
          <a:xfrm>
            <a:off x="6053328" y="2487168"/>
            <a:ext cx="5358384" cy="2523744"/>
          </a:xfrm>
          <a:prstGeom prst="rect">
            <a:avLst/>
          </a:prstGeom>
        </p:spPr>
      </p:pic>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9" name="Text 6"/>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5 / 27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CARD LIFECYCLE</a:t>
            </a:r>
            <a:endParaRPr lang="en-US" sz="1200" dirty="0"/>
          </a:p>
        </p:txBody>
      </p:sp>
      <p:sp>
        <p:nvSpPr>
          <p:cNvPr id="4" name="Text 2"/>
          <p:cNvSpPr/>
          <p:nvPr/>
        </p:nvSpPr>
        <p:spPr>
          <a:xfrm>
            <a:off x="640080" y="841248"/>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The Card Lifecycle at a Glance</a:t>
            </a:r>
            <a:endParaRPr lang="en-US" sz="3000" dirty="0"/>
          </a:p>
        </p:txBody>
      </p:sp>
      <p:sp>
        <p:nvSpPr>
          <p:cNvPr id="5" name="Text 3"/>
          <p:cNvSpPr/>
          <p:nvPr/>
        </p:nvSpPr>
        <p:spPr>
          <a:xfrm>
            <a:off x="640080" y="1828800"/>
            <a:ext cx="4937760" cy="393192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1700" dirty="0">
                <a:solidFill>
                  <a:srgbClr val="3F3F46"/>
                </a:solidFill>
                <a:latin typeface="Calibri" pitchFamily="34" charset="0"/>
                <a:ea typeface="Calibri" pitchFamily="34" charset="-122"/>
                <a:cs typeface="Calibri" pitchFamily="34" charset="-120"/>
              </a:rPr>
              <a:t>A maker submits a new card request against a customer account</a:t>
            </a:r>
            <a:endParaRPr lang="en-US" sz="1700" dirty="0"/>
          </a:p>
          <a:p>
            <a:pPr marL="203200" indent="-203200">
              <a:spcAft>
                <a:spcPts val="1400"/>
              </a:spcAft>
              <a:buClr>
                <a:srgbClr val="E31E24"/>
              </a:buClr>
              <a:buSzPct val="100000"/>
              <a:buChar char="●"/>
            </a:pPr>
            <a:r>
              <a:rPr lang="en-US" sz="1700" dirty="0">
                <a:solidFill>
                  <a:srgbClr val="3F3F46"/>
                </a:solidFill>
                <a:latin typeface="Calibri" pitchFamily="34" charset="0"/>
                <a:ea typeface="Calibri" pitchFamily="34" charset="-122"/>
                <a:cs typeface="Calibri" pitchFamily="34" charset="-120"/>
              </a:rPr>
              <a:t>An independent checker approves or rejects the request</a:t>
            </a:r>
            <a:endParaRPr lang="en-US" sz="1700" dirty="0"/>
          </a:p>
          <a:p>
            <a:pPr marL="203200" indent="-203200">
              <a:spcAft>
                <a:spcPts val="1400"/>
              </a:spcAft>
              <a:buClr>
                <a:srgbClr val="E31E24"/>
              </a:buClr>
              <a:buSzPct val="100000"/>
              <a:buChar char="●"/>
            </a:pPr>
            <a:r>
              <a:rPr lang="en-US" sz="1700" dirty="0">
                <a:solidFill>
                  <a:srgbClr val="3F3F46"/>
                </a:solidFill>
                <a:latin typeface="Calibri" pitchFamily="34" charset="0"/>
                <a:ea typeface="Calibri" pitchFamily="34" charset="-122"/>
                <a:cs typeface="Calibri" pitchFamily="34" charset="-120"/>
              </a:rPr>
              <a:t>On approval, the card is generated and the PAN is encrypted</a:t>
            </a:r>
            <a:endParaRPr lang="en-US" sz="1700" dirty="0"/>
          </a:p>
          <a:p>
            <a:pPr marL="203200" indent="-203200">
              <a:spcAft>
                <a:spcPts val="1400"/>
              </a:spcAft>
              <a:buClr>
                <a:srgbClr val="E31E24"/>
              </a:buClr>
              <a:buSzPct val="100000"/>
              <a:buChar char="●"/>
            </a:pPr>
            <a:r>
              <a:rPr lang="en-US" sz="1700" dirty="0">
                <a:solidFill>
                  <a:srgbClr val="3F3F46"/>
                </a:solidFill>
                <a:latin typeface="Calibri" pitchFamily="34" charset="0"/>
                <a:ea typeface="Calibri" pitchFamily="34" charset="-122"/>
                <a:cs typeface="Calibri" pitchFamily="34" charset="-120"/>
              </a:rPr>
              <a:t>Issued cards can optionally be exported to the card bureau</a:t>
            </a:r>
            <a:endParaRPr lang="en-US" sz="1700" dirty="0"/>
          </a:p>
        </p:txBody>
      </p:sp>
      <p:sp>
        <p:nvSpPr>
          <p:cNvPr id="6" name="Shape 4"/>
          <p:cNvSpPr/>
          <p:nvPr/>
        </p:nvSpPr>
        <p:spPr>
          <a:xfrm>
            <a:off x="5852160" y="1417320"/>
            <a:ext cx="566928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7" name="Image 0" descr="Flagship new-card-issuance flow diagram"/>
          <p:cNvPicPr>
            <a:picLocks noChangeAspect="1"/>
          </p:cNvPicPr>
          <p:nvPr/>
        </p:nvPicPr>
        <p:blipFill>
          <a:blip r:embed="rId3"/>
          <a:srcRect/>
          <a:stretch/>
        </p:blipFill>
        <p:spPr>
          <a:xfrm>
            <a:off x="5961888" y="1527048"/>
            <a:ext cx="5449824" cy="4626864"/>
          </a:xfrm>
          <a:prstGeom prst="rect">
            <a:avLst/>
          </a:prstGeom>
        </p:spPr>
      </p:pic>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9" name="Text 6"/>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6 / 27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HOW IT'S BUILT</a:t>
            </a:r>
            <a:endParaRPr lang="en-US" sz="1200" dirty="0"/>
          </a:p>
        </p:txBody>
      </p:sp>
      <p:sp>
        <p:nvSpPr>
          <p:cNvPr id="4" name="Text 2"/>
          <p:cNvSpPr/>
          <p:nvPr/>
        </p:nvSpPr>
        <p:spPr>
          <a:xfrm>
            <a:off x="640080" y="841248"/>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Simple, Secure Architecture</a:t>
            </a:r>
            <a:endParaRPr lang="en-US" sz="3000" dirty="0"/>
          </a:p>
        </p:txBody>
      </p:sp>
      <p:sp>
        <p:nvSpPr>
          <p:cNvPr id="5" name="Text 3"/>
          <p:cNvSpPr/>
          <p:nvPr/>
        </p:nvSpPr>
        <p:spPr>
          <a:xfrm>
            <a:off x="640080" y="2148840"/>
            <a:ext cx="10881360" cy="23774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A web portal — no client software to install or maintain</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A secured API layer (core-service) that enforces every business rule</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An Oracle database — enterprise-grade, encrypted card data at rest</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Example: portal calls POST /api/auth/login, then GET /api/dashboard/summary</a:t>
            </a:r>
            <a:endParaRPr lang="en-US" sz="1800" dirty="0"/>
          </a:p>
        </p:txBody>
      </p:sp>
      <p:sp>
        <p:nvSpPr>
          <p:cNvPr id="6" name="Shape 4"/>
          <p:cNvSpPr/>
          <p:nvPr/>
        </p:nvSpPr>
        <p:spPr>
          <a:xfrm>
            <a:off x="1463040" y="4434840"/>
            <a:ext cx="9235440" cy="1737360"/>
          </a:xfrm>
          <a:prstGeom prst="roundRect">
            <a:avLst>
              <a:gd name="adj" fmla="val 3158"/>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7" name="Image 0" descr="Three-tier architecture: web UI, REST API, Oracle database"/>
          <p:cNvPicPr>
            <a:picLocks noChangeAspect="1"/>
          </p:cNvPicPr>
          <p:nvPr/>
        </p:nvPicPr>
        <p:blipFill>
          <a:blip r:embed="rId3"/>
          <a:srcRect/>
          <a:stretch/>
        </p:blipFill>
        <p:spPr>
          <a:xfrm>
            <a:off x="1572768" y="4544568"/>
            <a:ext cx="9015984" cy="1517904"/>
          </a:xfrm>
          <a:prstGeom prst="rect">
            <a:avLst/>
          </a:prstGeom>
        </p:spPr>
      </p:pic>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9" name="Text 6"/>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7 / 27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SECURITY &amp; CONTROL</a:t>
            </a:r>
            <a:endParaRPr lang="en-US" sz="1200" dirty="0"/>
          </a:p>
        </p:txBody>
      </p:sp>
      <p:sp>
        <p:nvSpPr>
          <p:cNvPr id="4" name="Text 2"/>
          <p:cNvSpPr/>
          <p:nvPr/>
        </p:nvSpPr>
        <p:spPr>
          <a:xfrm>
            <a:off x="640080" y="841248"/>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Security Model: Dual Control &amp; Role-Based Access</a:t>
            </a:r>
            <a:endParaRPr lang="en-US" sz="3000" dirty="0"/>
          </a:p>
        </p:txBody>
      </p:sp>
      <p:sp>
        <p:nvSpPr>
          <p:cNvPr id="5" name="Text 3"/>
          <p:cNvSpPr/>
          <p:nvPr/>
        </p:nvSpPr>
        <p:spPr>
          <a:xfrm>
            <a:off x="640080" y="1828800"/>
            <a:ext cx="5120640" cy="393192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Dual control — a maker can never approve their own request</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Role-based access — users see only the menus their role permits</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PAN protection — card numbers are always shown masked in the UI</a:t>
            </a:r>
            <a:endParaRPr lang="en-US" sz="1800" dirty="0"/>
          </a:p>
          <a:p>
            <a:pPr marL="203200" indent="-203200">
              <a:spcAft>
                <a:spcPts val="1400"/>
              </a:spcAft>
              <a:buClr>
                <a:srgbClr val="E31E24"/>
              </a:buClr>
              <a:buSzPct val="100000"/>
              <a:buChar char="●"/>
            </a:pPr>
            <a:r>
              <a:rPr lang="en-US" sz="1800" dirty="0">
                <a:solidFill>
                  <a:srgbClr val="3F3F46"/>
                </a:solidFill>
                <a:latin typeface="Calibri" pitchFamily="34" charset="0"/>
                <a:ea typeface="Calibri" pitchFamily="34" charset="-122"/>
                <a:cs typeface="Calibri" pitchFamily="34" charset="-120"/>
              </a:rPr>
              <a:t>Full audit trail on every administrative and card action</a:t>
            </a:r>
            <a:endParaRPr lang="en-US" sz="1800" dirty="0"/>
          </a:p>
        </p:txBody>
      </p:sp>
      <p:sp>
        <p:nvSpPr>
          <p:cNvPr id="6" name="Shape 4"/>
          <p:cNvSpPr/>
          <p:nvPr/>
        </p:nvSpPr>
        <p:spPr>
          <a:xfrm>
            <a:off x="5943600" y="2468880"/>
            <a:ext cx="5577840" cy="2377440"/>
          </a:xfrm>
          <a:prstGeom prst="roundRect">
            <a:avLst>
              <a:gd name="adj" fmla="val 2308"/>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7" name="Image 0" descr="Role-based access model: User to Roles to Permissions to Screens"/>
          <p:cNvPicPr>
            <a:picLocks noChangeAspect="1"/>
          </p:cNvPicPr>
          <p:nvPr/>
        </p:nvPicPr>
        <p:blipFill>
          <a:blip r:embed="rId3"/>
          <a:srcRect/>
          <a:stretch/>
        </p:blipFill>
        <p:spPr>
          <a:xfrm>
            <a:off x="6053328" y="2578608"/>
            <a:ext cx="5358384" cy="2157984"/>
          </a:xfrm>
          <a:prstGeom prst="rect">
            <a:avLst/>
          </a:prstGeom>
        </p:spPr>
      </p:pic>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9" name="Text 6"/>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8 / 27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SECURITY &amp; CONTROL</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Who Does What: User Roles</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Administrator — full access to users, roles, permissions, and all modules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Maker — creates and edits new card requests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Checker — approves or rejects pending card requests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Card Operator / Viewer — day-to-day operations, or read-only reporting access</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9 / 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5.1</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Sign in &amp; Dashboard</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Give every user a real-time view of operational KPIs and quick access to their work.</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Authorised sign-in with a session-based login</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Pending approvals, open requests, and cards issued today — all at a glance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Expiring-soon and “hot” (flagged) cards surfaced automatically</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Refreshes on load; leadership can check status anytime</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/api/auth/login  </a:t>
            </a:r>
            <a:r>
              <a:rPr lang="en-US" sz="1050" dirty="0">
                <a:solidFill>
                  <a:srgbClr val="3F3F46"/>
                </a:solidFill>
                <a:latin typeface="Calibri" pitchFamily="34" charset="0"/>
                <a:ea typeface="Calibri" pitchFamily="34" charset="-122"/>
                <a:cs typeface="Calibri" pitchFamily="34" charset="-120"/>
              </a:rPr>
              <a:t>— Authenticate user</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/api/dashboard/summary  </a:t>
            </a:r>
            <a:r>
              <a:rPr lang="en-US" sz="1050" dirty="0">
                <a:solidFill>
                  <a:srgbClr val="3F3F46"/>
                </a:solidFill>
                <a:latin typeface="Calibri" pitchFamily="34" charset="0"/>
                <a:ea typeface="Calibri" pitchFamily="34" charset="-122"/>
                <a:cs typeface="Calibri" pitchFamily="34" charset="-120"/>
              </a:rPr>
              <a:t>— Dashboard KPIs and queues</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/api/my-menus  </a:t>
            </a:r>
            <a:r>
              <a:rPr lang="en-US" sz="1050" dirty="0">
                <a:solidFill>
                  <a:srgbClr val="3F3F46"/>
                </a:solidFill>
                <a:latin typeface="Calibri" pitchFamily="34" charset="0"/>
                <a:ea typeface="Calibri" pitchFamily="34" charset="-122"/>
                <a:cs typeface="Calibri" pitchFamily="34" charset="-120"/>
              </a:rPr>
              <a:t>— Build navigation for current user</a:t>
            </a:r>
            <a:endParaRPr lang="en-US" sz="1050" dirty="0"/>
          </a:p>
        </p:txBody>
      </p:sp>
      <p:sp>
        <p:nvSpPr>
          <p:cNvPr id="9" name="Shape 7"/>
          <p:cNvSpPr/>
          <p:nvPr/>
        </p:nvSpPr>
        <p:spPr>
          <a:xfrm>
            <a:off x="6035040" y="146304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LasPay CMS sign-in screen"/>
          <p:cNvPicPr>
            <a:picLocks noChangeAspect="1"/>
          </p:cNvPicPr>
          <p:nvPr/>
        </p:nvPicPr>
        <p:blipFill>
          <a:blip r:embed="rId3"/>
          <a:srcRect/>
          <a:stretch/>
        </p:blipFill>
        <p:spPr>
          <a:xfrm>
            <a:off x="6144768" y="1572768"/>
            <a:ext cx="5266944" cy="2112264"/>
          </a:xfrm>
          <a:prstGeom prst="rect">
            <a:avLst/>
          </a:prstGeom>
        </p:spPr>
      </p:pic>
      <p:sp>
        <p:nvSpPr>
          <p:cNvPr id="11" name="Shape 8"/>
          <p:cNvSpPr/>
          <p:nvPr/>
        </p:nvSpPr>
        <p:spPr>
          <a:xfrm>
            <a:off x="6035040" y="393192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2" name="Image 1" descr="LasPay CMS operations dashboard"/>
          <p:cNvPicPr>
            <a:picLocks noChangeAspect="1"/>
          </p:cNvPicPr>
          <p:nvPr/>
        </p:nvPicPr>
        <p:blipFill>
          <a:blip r:embed="rId4"/>
          <a:srcRect/>
          <a:stretch/>
        </p:blipFill>
        <p:spPr>
          <a:xfrm>
            <a:off x="6144768" y="4041648"/>
            <a:ext cx="5266944" cy="2112264"/>
          </a:xfrm>
          <a:prstGeom prst="rect">
            <a:avLst/>
          </a:prstGeom>
        </p:spPr>
      </p:pic>
      <p:sp>
        <p:nvSpPr>
          <p:cNvPr id="13" name="Text 9"/>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4" name="Text 10"/>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10 / 27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5.2</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New Card Request (Maker)</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Allow a maker to submit a new card request for an existing or new customer account.</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Maker enters the customer's relationship number to load the account</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Card details captured: title, product, type, branch</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Card title enforced uppercase; all mandatory fields validated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Submission moves the request into the checker's queue — nothing is issued yet</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/api/card-requests/customer-info  </a:t>
            </a:r>
            <a:r>
              <a:rPr lang="en-US" sz="1050" dirty="0">
                <a:solidFill>
                  <a:srgbClr val="3F3F46"/>
                </a:solidFill>
                <a:latin typeface="Calibri" pitchFamily="34" charset="0"/>
                <a:ea typeface="Calibri" pitchFamily="34" charset="-122"/>
                <a:cs typeface="Calibri" pitchFamily="34" charset="-120"/>
              </a:rPr>
              <a:t>— Load customer and accounts</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/api/card-requests  </a:t>
            </a:r>
            <a:r>
              <a:rPr lang="en-US" sz="1050" dirty="0">
                <a:solidFill>
                  <a:srgbClr val="3F3F46"/>
                </a:solidFill>
                <a:latin typeface="Calibri" pitchFamily="34" charset="0"/>
                <a:ea typeface="Calibri" pitchFamily="34" charset="-122"/>
                <a:cs typeface="Calibri" pitchFamily="34" charset="-120"/>
              </a:rPr>
              <a:t>— Submit new card request</a:t>
            </a:r>
            <a:endParaRPr lang="en-US" sz="1050" dirty="0"/>
          </a:p>
          <a:p>
            <a:pPr marL="0" indent="0">
              <a:buNone/>
            </a:pPr>
            <a:r>
              <a:rPr lang="en-US" sz="1050" b="1" dirty="0">
                <a:solidFill>
                  <a:srgbClr val="92400E"/>
                </a:solidFill>
                <a:latin typeface="Courier New" pitchFamily="34" charset="0"/>
                <a:ea typeface="Courier New" pitchFamily="34" charset="-122"/>
                <a:cs typeface="Courier New" pitchFamily="34" charset="-120"/>
              </a:rPr>
              <a:t>PUT  </a:t>
            </a:r>
            <a:r>
              <a:rPr lang="en-US" sz="1050" dirty="0">
                <a:solidFill>
                  <a:srgbClr val="C85A5C"/>
                </a:solidFill>
                <a:latin typeface="Courier New" pitchFamily="34" charset="0"/>
                <a:ea typeface="Courier New" pitchFamily="34" charset="-122"/>
                <a:cs typeface="Courier New" pitchFamily="34" charset="-120"/>
              </a:rPr>
              <a:t>/api/card-requests/{id}  </a:t>
            </a:r>
            <a:r>
              <a:rPr lang="en-US" sz="1050" dirty="0">
                <a:solidFill>
                  <a:srgbClr val="3F3F46"/>
                </a:solidFill>
                <a:latin typeface="Calibri" pitchFamily="34" charset="0"/>
                <a:ea typeface="Calibri" pitchFamily="34" charset="-122"/>
                <a:cs typeface="Calibri" pitchFamily="34" charset="-120"/>
              </a:rPr>
              <a:t>— Edit before approval</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/api/products  </a:t>
            </a:r>
            <a:r>
              <a:rPr lang="en-US" sz="1050" dirty="0">
                <a:solidFill>
                  <a:srgbClr val="3F3F46"/>
                </a:solidFill>
                <a:latin typeface="Calibri" pitchFamily="34" charset="0"/>
                <a:ea typeface="Calibri" pitchFamily="34" charset="-122"/>
                <a:cs typeface="Calibri" pitchFamily="34" charset="-120"/>
              </a:rPr>
              <a:t>— Product dropdown</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/api/card-types  </a:t>
            </a:r>
            <a:r>
              <a:rPr lang="en-US" sz="1050" dirty="0">
                <a:solidFill>
                  <a:srgbClr val="3F3F46"/>
                </a:solidFill>
                <a:latin typeface="Calibri" pitchFamily="34" charset="0"/>
                <a:ea typeface="Calibri" pitchFamily="34" charset="-122"/>
                <a:cs typeface="Calibri" pitchFamily="34" charset="-120"/>
              </a:rPr>
              <a:t>— Card type dropdown</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/api/branches  </a:t>
            </a:r>
            <a:r>
              <a:rPr lang="en-US" sz="1050" dirty="0">
                <a:solidFill>
                  <a:srgbClr val="3F3F46"/>
                </a:solidFill>
                <a:latin typeface="Calibri" pitchFamily="34" charset="0"/>
                <a:ea typeface="Calibri" pitchFamily="34" charset="-122"/>
                <a:cs typeface="Calibri" pitchFamily="34" charset="-120"/>
              </a:rPr>
              <a:t>— Branch dropdown</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New card request form"/>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11 / 27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5.3</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Approval Workflow — Dual Control in Action</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An authorised checker reviews pending card requests and approves or rejects them.</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Checker reviews relationship, account, title, type, and product details</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One click to Approve or Reject, with a mandatory audit record either way</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The system enforces that the maker cannot also be the checker</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Rejected requests stay fully searchable for audit</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/api/card-requests/checker  </a:t>
            </a:r>
            <a:r>
              <a:rPr lang="en-US" sz="1050" dirty="0">
                <a:solidFill>
                  <a:srgbClr val="3F3F46"/>
                </a:solidFill>
                <a:latin typeface="Calibri" pitchFamily="34" charset="0"/>
                <a:ea typeface="Calibri" pitchFamily="34" charset="-122"/>
                <a:cs typeface="Calibri" pitchFamily="34" charset="-120"/>
              </a:rPr>
              <a:t>— Checker queue</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/api/card-requests/maker  </a:t>
            </a:r>
            <a:r>
              <a:rPr lang="en-US" sz="1050" dirty="0">
                <a:solidFill>
                  <a:srgbClr val="3F3F46"/>
                </a:solidFill>
                <a:latin typeface="Calibri" pitchFamily="34" charset="0"/>
                <a:ea typeface="Calibri" pitchFamily="34" charset="-122"/>
                <a:cs typeface="Calibri" pitchFamily="34" charset="-120"/>
              </a:rPr>
              <a:t>— Maker queue</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/api/card-requests/reject  </a:t>
            </a:r>
            <a:r>
              <a:rPr lang="en-US" sz="1050" dirty="0">
                <a:solidFill>
                  <a:srgbClr val="3F3F46"/>
                </a:solidFill>
                <a:latin typeface="Calibri" pitchFamily="34" charset="0"/>
                <a:ea typeface="Calibri" pitchFamily="34" charset="-122"/>
                <a:cs typeface="Calibri" pitchFamily="34" charset="-120"/>
              </a:rPr>
              <a:t>— Reject with reason</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/api/card-generation/request/{id}/approve-and-generate  </a:t>
            </a:r>
            <a:r>
              <a:rPr lang="en-US" sz="1050" dirty="0">
                <a:solidFill>
                  <a:srgbClr val="3F3F46"/>
                </a:solidFill>
                <a:latin typeface="Calibri" pitchFamily="34" charset="0"/>
                <a:ea typeface="Calibri" pitchFamily="34" charset="-122"/>
                <a:cs typeface="Calibri" pitchFamily="34" charset="-120"/>
              </a:rPr>
              <a:t>— Approve and generate</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/api/card-requests/search  </a:t>
            </a:r>
            <a:r>
              <a:rPr lang="en-US" sz="1050" dirty="0">
                <a:solidFill>
                  <a:srgbClr val="3F3F46"/>
                </a:solidFill>
                <a:latin typeface="Calibri" pitchFamily="34" charset="0"/>
                <a:ea typeface="Calibri" pitchFamily="34" charset="-122"/>
                <a:cs typeface="Calibri" pitchFamily="34" charset="-120"/>
              </a:rPr>
              <a:t>— Search historical requests</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ard requests checker queue"/>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12 / 27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5.4</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Card Generation</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Generate the card record after checker approval — the final step before a card is issued.</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Only checker-approved requests are eligible for generation</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Card record created and the card number (PAN) is encrypted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Optional automatic export to the card bureau for physical production</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Processed flag confirms completion; no duplicate generation possible</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/api/card-generation/request-by-code  </a:t>
            </a:r>
            <a:r>
              <a:rPr lang="en-US" sz="1050" dirty="0">
                <a:solidFill>
                  <a:srgbClr val="3F3F46"/>
                </a:solidFill>
                <a:latin typeface="Calibri" pitchFamily="34" charset="0"/>
                <a:ea typeface="Calibri" pitchFamily="34" charset="-122"/>
                <a:cs typeface="Calibri" pitchFamily="34" charset="-120"/>
              </a:rPr>
              <a:t>— Find requests by relationship &amp; account</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/api/card-generation/request/{id}/approve-and-generate  </a:t>
            </a:r>
            <a:r>
              <a:rPr lang="en-US" sz="1050" dirty="0">
                <a:solidFill>
                  <a:srgbClr val="3F3F46"/>
                </a:solidFill>
                <a:latin typeface="Calibri" pitchFamily="34" charset="0"/>
                <a:ea typeface="Calibri" pitchFamily="34" charset="-122"/>
                <a:cs typeface="Calibri" pitchFamily="34" charset="-120"/>
              </a:rPr>
              <a:t>— Generate from approved request</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/api/card-generation/process  </a:t>
            </a:r>
            <a:r>
              <a:rPr lang="en-US" sz="1050" dirty="0">
                <a:solidFill>
                  <a:srgbClr val="3F3F46"/>
                </a:solidFill>
                <a:latin typeface="Calibri" pitchFamily="34" charset="0"/>
                <a:ea typeface="Calibri" pitchFamily="34" charset="-122"/>
                <a:cs typeface="Calibri" pitchFamily="34" charset="-120"/>
              </a:rPr>
              <a:t>— Process generation</a:t>
            </a:r>
            <a:endParaRPr lang="en-US" sz="1050" dirty="0"/>
          </a:p>
          <a:p>
            <a:pPr marL="0" indent="0">
              <a:buNone/>
            </a:pPr>
            <a:r>
              <a:rPr lang="en-US" sz="1050" b="1" dirty="0">
                <a:solidFill>
                  <a:srgbClr val="92400E"/>
                </a:solidFill>
                <a:latin typeface="Courier New" pitchFamily="34" charset="0"/>
                <a:ea typeface="Courier New" pitchFamily="34" charset="-122"/>
                <a:cs typeface="Courier New" pitchFamily="34" charset="-120"/>
              </a:rPr>
              <a:t>PUT  </a:t>
            </a:r>
            <a:r>
              <a:rPr lang="en-US" sz="1050" dirty="0">
                <a:solidFill>
                  <a:srgbClr val="C85A5C"/>
                </a:solidFill>
                <a:latin typeface="Courier New" pitchFamily="34" charset="0"/>
                <a:ea typeface="Courier New" pitchFamily="34" charset="-122"/>
                <a:cs typeface="Courier New" pitchFamily="34" charset="-120"/>
              </a:rPr>
              <a:t>/api/card-generation/request/{id}/progress  </a:t>
            </a:r>
            <a:r>
              <a:rPr lang="en-US" sz="1050" dirty="0">
                <a:solidFill>
                  <a:srgbClr val="3F3F46"/>
                </a:solidFill>
                <a:latin typeface="Calibri" pitchFamily="34" charset="0"/>
                <a:ea typeface="Calibri" pitchFamily="34" charset="-122"/>
                <a:cs typeface="Calibri" pitchFamily="34" charset="-120"/>
              </a:rPr>
              <a:t>— Update workflow progress</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ard generation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13 / 27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5.5</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Card Search &amp; Day-to-Day Operations</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Give operators one consistent way to find and act on any card across the full book.</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One unified search screen powers every operational task that follows</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Search by PAN, relationship number, card type, or date range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Same search experience reused for status changes, replacement, and export</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Full card detail available in a single call once a card is found</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/api/cards/search  </a:t>
            </a:r>
            <a:r>
              <a:rPr lang="en-US" sz="1050" dirty="0">
                <a:solidFill>
                  <a:srgbClr val="3F3F46"/>
                </a:solidFill>
                <a:latin typeface="Calibri" pitchFamily="34" charset="0"/>
                <a:ea typeface="Calibri" pitchFamily="34" charset="-122"/>
                <a:cs typeface="Calibri" pitchFamily="34" charset="-120"/>
              </a:rPr>
              <a:t>— Filter cards by criteria</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/api/cards/{id}  </a:t>
            </a:r>
            <a:r>
              <a:rPr lang="en-US" sz="1050" dirty="0">
                <a:solidFill>
                  <a:srgbClr val="3F3F46"/>
                </a:solidFill>
                <a:latin typeface="Calibri" pitchFamily="34" charset="0"/>
                <a:ea typeface="Calibri" pitchFamily="34" charset="-122"/>
                <a:cs typeface="Calibri" pitchFamily="34" charset="-120"/>
              </a:rPr>
              <a:t>— Full card detail</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/api/cards/dropdowns  </a:t>
            </a:r>
            <a:r>
              <a:rPr lang="en-US" sz="1050" dirty="0">
                <a:solidFill>
                  <a:srgbClr val="3F3F46"/>
                </a:solidFill>
                <a:latin typeface="Calibri" pitchFamily="34" charset="0"/>
                <a:ea typeface="Calibri" pitchFamily="34" charset="-122"/>
                <a:cs typeface="Calibri" pitchFamily="34" charset="-120"/>
              </a:rPr>
              <a:t>— Filter options (types, statuses)</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/api/cards/customer-by-relation  </a:t>
            </a:r>
            <a:r>
              <a:rPr lang="en-US" sz="1050" dirty="0">
                <a:solidFill>
                  <a:srgbClr val="3F3F46"/>
                </a:solidFill>
                <a:latin typeface="Calibri" pitchFamily="34" charset="0"/>
                <a:ea typeface="Calibri" pitchFamily="34" charset="-122"/>
                <a:cs typeface="Calibri" pitchFamily="34" charset="-120"/>
              </a:rPr>
              <a:t>— Customer info by relationship #</a:t>
            </a:r>
            <a:endParaRPr lang="en-US" sz="1050" dirty="0"/>
          </a:p>
        </p:txBody>
      </p:sp>
      <p:sp>
        <p:nvSpPr>
          <p:cNvPr id="9" name="Shape 7"/>
          <p:cNvSpPr/>
          <p:nvPr/>
        </p:nvSpPr>
        <p:spPr>
          <a:xfrm>
            <a:off x="6035040" y="1463040"/>
            <a:ext cx="5486400" cy="4846320"/>
          </a:xfrm>
          <a:prstGeom prst="roundRect">
            <a:avLst>
              <a:gd name="adj" fmla="val 1132"/>
            </a:avLst>
          </a:prstGeom>
          <a:solidFill>
            <a:srgbClr val="FAF9F8"/>
          </a:solidFill>
          <a:ln w="12700">
            <a:solidFill>
              <a:srgbClr val="E8E4E2"/>
            </a:solidFill>
            <a:prstDash val="solid"/>
          </a:ln>
        </p:spPr>
        <p:txBody>
          <a:bodyPr/>
          <a:lstStyle/>
          <a:p>
            <a:endParaRPr lang="en-US" dirty="0"/>
          </a:p>
        </p:txBody>
      </p:sp>
      <p:sp>
        <p:nvSpPr>
          <p:cNvPr id="10" name="Text 8"/>
          <p:cNvSpPr/>
          <p:nvPr/>
        </p:nvSpPr>
        <p:spPr>
          <a:xfrm>
            <a:off x="6309360" y="3383280"/>
            <a:ext cx="4937760" cy="1005840"/>
          </a:xfrm>
          <a:prstGeom prst="rect">
            <a:avLst/>
          </a:prstGeom>
          <a:noFill/>
          <a:ln/>
        </p:spPr>
        <p:txBody>
          <a:bodyPr wrap="square" rtlCol="0" anchor="ctr"/>
          <a:lstStyle/>
          <a:p>
            <a:pPr marL="0" indent="0" algn="ctr">
              <a:buNone/>
            </a:pPr>
            <a:r>
              <a:rPr lang="en-US" sz="1300" i="1" dirty="0">
                <a:solidFill>
                  <a:srgbClr val="71717A"/>
                </a:solidFill>
                <a:latin typeface="Calibri" pitchFamily="34" charset="0"/>
                <a:ea typeface="Calibri" pitchFamily="34" charset="-122"/>
                <a:cs typeface="Calibri" pitchFamily="34" charset="-120"/>
              </a:rPr>
              <a:t>No screenshot available in</a:t>
            </a:r>
            <a:endParaRPr lang="en-US" sz="1300" dirty="0"/>
          </a:p>
          <a:p>
            <a:pPr marL="0" indent="0" algn="ctr">
              <a:buNone/>
            </a:pPr>
            <a:r>
              <a:rPr lang="en-US" sz="1300" i="1" dirty="0">
                <a:solidFill>
                  <a:srgbClr val="71717A"/>
                </a:solidFill>
                <a:latin typeface="Calibri" pitchFamily="34" charset="0"/>
                <a:ea typeface="Calibri" pitchFamily="34" charset="-122"/>
                <a:cs typeface="Calibri" pitchFamily="34" charset="-120"/>
              </a:rPr>
              <a:t>source material for this screen.</a:t>
            </a:r>
            <a:endParaRPr lang="en-US" sz="1300" dirty="0"/>
          </a:p>
        </p:txBody>
      </p:sp>
      <p:sp>
        <p:nvSpPr>
          <p:cNvPr id="11" name="Text 9"/>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10"/>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14 / 27</a:t>
            </a:r>
            <a:endParaRPr lang="en-US" sz="1000" dirty="0"/>
          </a:p>
        </p:txBody>
      </p:sp>
      <p:pic>
        <p:nvPicPr>
          <p:cNvPr id="14" name="Picture 13">
            <a:extLst>
              <a:ext uri="{FF2B5EF4-FFF2-40B4-BE49-F238E27FC236}">
                <a16:creationId xmlns:a16="http://schemas.microsoft.com/office/drawing/2014/main" id="{C340CF99-B25A-44DF-A9B3-FAEAE076F206}"/>
              </a:ext>
            </a:extLst>
          </p:cNvPr>
          <p:cNvPicPr>
            <a:picLocks noChangeAspect="1"/>
          </p:cNvPicPr>
          <p:nvPr/>
        </p:nvPicPr>
        <p:blipFill>
          <a:blip r:embed="rId3"/>
          <a:stretch>
            <a:fillRect/>
          </a:stretch>
        </p:blipFill>
        <p:spPr>
          <a:xfrm>
            <a:off x="5896356" y="1137312"/>
            <a:ext cx="5882640" cy="56532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5.6</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Change Card Status</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Update a card's operational status — for example Cold to Warm to Hot — for risk handling.</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Operator searches, selects a card, and applies the new status</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Status values themselves are configured centrally in housekeeping</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“Hot” cards are automatically flagged on the dashboard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Every status change is logged for audit</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/api/cards/search  </a:t>
            </a:r>
            <a:r>
              <a:rPr lang="en-US" sz="1050" dirty="0">
                <a:solidFill>
                  <a:srgbClr val="3F3F46"/>
                </a:solidFill>
                <a:latin typeface="Calibri" pitchFamily="34" charset="0"/>
                <a:ea typeface="Calibri" pitchFamily="34" charset="-122"/>
                <a:cs typeface="Calibri" pitchFamily="34" charset="-120"/>
              </a:rPr>
              <a:t>— Find target card</a:t>
            </a:r>
            <a:endParaRPr lang="en-US" sz="1050" dirty="0"/>
          </a:p>
          <a:p>
            <a:pPr marL="0" indent="0">
              <a:buNone/>
            </a:pPr>
            <a:r>
              <a:rPr lang="en-US" sz="1050" b="1" dirty="0">
                <a:solidFill>
                  <a:srgbClr val="92400E"/>
                </a:solidFill>
                <a:latin typeface="Courier New" pitchFamily="34" charset="0"/>
                <a:ea typeface="Courier New" pitchFamily="34" charset="-122"/>
                <a:cs typeface="Courier New" pitchFamily="34" charset="-120"/>
              </a:rPr>
              <a:t>PUT  </a:t>
            </a:r>
            <a:r>
              <a:rPr lang="en-US" sz="1050" dirty="0">
                <a:solidFill>
                  <a:srgbClr val="C85A5C"/>
                </a:solidFill>
                <a:latin typeface="Courier New" pitchFamily="34" charset="0"/>
                <a:ea typeface="Courier New" pitchFamily="34" charset="-122"/>
                <a:cs typeface="Courier New" pitchFamily="34" charset="-120"/>
              </a:rPr>
              <a:t>/api/cards/{id}  </a:t>
            </a:r>
            <a:r>
              <a:rPr lang="en-US" sz="1050" dirty="0">
                <a:solidFill>
                  <a:srgbClr val="3F3F46"/>
                </a:solidFill>
                <a:latin typeface="Calibri" pitchFamily="34" charset="0"/>
                <a:ea typeface="Calibri" pitchFamily="34" charset="-122"/>
                <a:cs typeface="Calibri" pitchFamily="34" charset="-120"/>
              </a:rPr>
              <a:t>— Apply new card status</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hange card status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15 / 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5.7</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Replacement Request</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Initiate a replacement card when the existing card is lost, damaged, or compromised.</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Operator locates the existing card and requests a replacement</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Replacement re-enters the same controlled production pipeline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Original card is superseded once the replacement is generated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Full history retained against the customer's account</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/api/cards/search  </a:t>
            </a:r>
            <a:r>
              <a:rPr lang="en-US" sz="1050" dirty="0">
                <a:solidFill>
                  <a:srgbClr val="3F3F46"/>
                </a:solidFill>
                <a:latin typeface="Calibri" pitchFamily="34" charset="0"/>
                <a:ea typeface="Calibri" pitchFamily="34" charset="-122"/>
                <a:cs typeface="Calibri" pitchFamily="34" charset="-120"/>
              </a:rPr>
              <a:t>— Find target card</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/api/cards/{id}/replacement-request  </a:t>
            </a:r>
            <a:r>
              <a:rPr lang="en-US" sz="1050" dirty="0">
                <a:solidFill>
                  <a:srgbClr val="3F3F46"/>
                </a:solidFill>
                <a:latin typeface="Calibri" pitchFamily="34" charset="0"/>
                <a:ea typeface="Calibri" pitchFamily="34" charset="-122"/>
                <a:cs typeface="Calibri" pitchFamily="34" charset="-120"/>
              </a:rPr>
              <a:t>— Create replacement request</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Replacement card request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16 / 27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5.8</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Change Card Type</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Change an existing card from one type to another, for example Standard to Premium.</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Operator selects the card and the target card type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Card type must be Active in housekeeping to be selectable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Limits and features update to match the new type automatically</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Change is reflected immediately in operations and reporting</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/api/cards/search  </a:t>
            </a:r>
            <a:r>
              <a:rPr lang="en-US" sz="1050" dirty="0">
                <a:solidFill>
                  <a:srgbClr val="3F3F46"/>
                </a:solidFill>
                <a:latin typeface="Calibri" pitchFamily="34" charset="0"/>
                <a:ea typeface="Calibri" pitchFamily="34" charset="-122"/>
                <a:cs typeface="Calibri" pitchFamily="34" charset="-120"/>
              </a:rPr>
              <a:t>— Find target card</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/api/cards/{id}/change-card-type  </a:t>
            </a:r>
            <a:r>
              <a:rPr lang="en-US" sz="1050" dirty="0">
                <a:solidFill>
                  <a:srgbClr val="3F3F46"/>
                </a:solidFill>
                <a:latin typeface="Calibri" pitchFamily="34" charset="0"/>
                <a:ea typeface="Calibri" pitchFamily="34" charset="-122"/>
                <a:cs typeface="Calibri" pitchFamily="34" charset="-120"/>
              </a:rPr>
              <a:t>— Change card type</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hange card type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17 / 27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5.9</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Cards by Expiry Date</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Identify cards approaching expiry and perform bulk renewal or replacement.</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Search any date range to see cards expiring in that window</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Select multiple cards and renew or replace in bulk</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Reduces manual, one-by-one processing at scale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Individual card detail still available via View</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/api/cards/expiry-search  </a:t>
            </a:r>
            <a:r>
              <a:rPr lang="en-US" sz="1050" dirty="0">
                <a:solidFill>
                  <a:srgbClr val="3F3F46"/>
                </a:solidFill>
                <a:latin typeface="Calibri" pitchFamily="34" charset="0"/>
                <a:ea typeface="Calibri" pitchFamily="34" charset="-122"/>
                <a:cs typeface="Calibri" pitchFamily="34" charset="-120"/>
              </a:rPr>
              <a:t>— Find cards in date range</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/api/cards/bulk-renew  </a:t>
            </a:r>
            <a:r>
              <a:rPr lang="en-US" sz="1050" dirty="0">
                <a:solidFill>
                  <a:srgbClr val="3F3F46"/>
                </a:solidFill>
                <a:latin typeface="Calibri" pitchFamily="34" charset="0"/>
                <a:ea typeface="Calibri" pitchFamily="34" charset="-122"/>
                <a:cs typeface="Calibri" pitchFamily="34" charset="-120"/>
              </a:rPr>
              <a:t>— Extend expiry on selected cards</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/api/cards/{id}/replacement-request  </a:t>
            </a:r>
            <a:r>
              <a:rPr lang="en-US" sz="1050" dirty="0">
                <a:solidFill>
                  <a:srgbClr val="3F3F46"/>
                </a:solidFill>
                <a:latin typeface="Calibri" pitchFamily="34" charset="0"/>
                <a:ea typeface="Calibri" pitchFamily="34" charset="-122"/>
                <a:cs typeface="Calibri" pitchFamily="34" charset="-120"/>
              </a:rPr>
              <a:t>— Replace selected cards</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ards by expiry date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18 / 27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5.10</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Card Export to Bureau</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Export issued cards that are ready for physical card bureau production.</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Only cards with status Issued are eligible for export</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Requires the dedicated export permission — access is restricted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Export file generated to a secured output location</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Closes the loop from digital issuance to physical card production</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/api/cards/export-ready  </a:t>
            </a:r>
            <a:r>
              <a:rPr lang="en-US" sz="1050" dirty="0">
                <a:solidFill>
                  <a:srgbClr val="3F3F46"/>
                </a:solidFill>
                <a:latin typeface="Calibri" pitchFamily="34" charset="0"/>
                <a:ea typeface="Calibri" pitchFamily="34" charset="-122"/>
                <a:cs typeface="Calibri" pitchFamily="34" charset="-120"/>
              </a:rPr>
              <a:t>— List export-ready cards</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/api/cards/bulk-export  </a:t>
            </a:r>
            <a:r>
              <a:rPr lang="en-US" sz="1050" dirty="0">
                <a:solidFill>
                  <a:srgbClr val="3F3F46"/>
                </a:solidFill>
                <a:latin typeface="Calibri" pitchFamily="34" charset="0"/>
                <a:ea typeface="Calibri" pitchFamily="34" charset="-122"/>
                <a:cs typeface="Calibri" pitchFamily="34" charset="-120"/>
              </a:rPr>
              <a:t>— Generate bureau export file</a:t>
            </a:r>
            <a:endParaRPr lang="en-US" sz="1050" dirty="0"/>
          </a:p>
          <a:p>
            <a:pPr marL="0" indent="0">
              <a:buNone/>
            </a:pPr>
            <a:r>
              <a:rPr lang="en-US" sz="1050" b="1" dirty="0">
                <a:solidFill>
                  <a:srgbClr val="1D4ED8"/>
                </a:solidFill>
                <a:latin typeface="Courier New" pitchFamily="34" charset="0"/>
                <a:ea typeface="Courier New" pitchFamily="34" charset="-122"/>
                <a:cs typeface="Courier New" pitchFamily="34" charset="-120"/>
              </a:rPr>
              <a:t>GET  </a:t>
            </a:r>
            <a:r>
              <a:rPr lang="en-US" sz="1050" dirty="0">
                <a:solidFill>
                  <a:srgbClr val="C85A5C"/>
                </a:solidFill>
                <a:latin typeface="Courier New" pitchFamily="34" charset="0"/>
                <a:ea typeface="Courier New" pitchFamily="34" charset="-122"/>
                <a:cs typeface="Courier New" pitchFamily="34" charset="-120"/>
              </a:rPr>
              <a:t>/api/cards/{id}/export-file  </a:t>
            </a:r>
            <a:r>
              <a:rPr lang="en-US" sz="1050" dirty="0">
                <a:solidFill>
                  <a:srgbClr val="3F3F46"/>
                </a:solidFill>
                <a:latin typeface="Calibri" pitchFamily="34" charset="0"/>
                <a:ea typeface="Calibri" pitchFamily="34" charset="-122"/>
                <a:cs typeface="Calibri" pitchFamily="34" charset="-120"/>
              </a:rPr>
              <a:t>— Download export file</a:t>
            </a:r>
            <a:endParaRPr lang="en-US" sz="1050" dirty="0"/>
          </a:p>
        </p:txBody>
      </p:sp>
      <p:sp>
        <p:nvSpPr>
          <p:cNvPr id="9" name="Shape 7"/>
          <p:cNvSpPr/>
          <p:nvPr/>
        </p:nvSpPr>
        <p:spPr>
          <a:xfrm>
            <a:off x="6035040" y="1463040"/>
            <a:ext cx="5486400" cy="4846320"/>
          </a:xfrm>
          <a:prstGeom prst="roundRect">
            <a:avLst>
              <a:gd name="adj" fmla="val 1132"/>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ard export to bureau screen"/>
          <p:cNvPicPr>
            <a:picLocks noChangeAspect="1"/>
          </p:cNvPicPr>
          <p:nvPr/>
        </p:nvPicPr>
        <p:blipFill>
          <a:blip r:embed="rId3"/>
          <a:srcRect/>
          <a:stretch/>
        </p:blipFill>
        <p:spPr>
          <a:xfrm>
            <a:off x="6144768" y="1572768"/>
            <a:ext cx="5266944" cy="4626864"/>
          </a:xfrm>
          <a:prstGeom prst="rect">
            <a:avLst/>
          </a:prstGeom>
        </p:spPr>
      </p:pic>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2" name="Text 9"/>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19 / 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5.11</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Master Data Setup (Housekeeping)</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Configure the reference data that card production and operations depend on.</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Branches, products, card types, and limit profiles — all centrally managed</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Products and card types must be Active to appear in card requests</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Limit profiles define per-channel caps (ATM, POS, e-commerce) in PKR</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Administrator-only — keeps reference data governed, not hard-coded</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/api/branches  </a:t>
            </a:r>
            <a:r>
              <a:rPr lang="en-US" sz="1050" dirty="0">
                <a:solidFill>
                  <a:srgbClr val="3F3F46"/>
                </a:solidFill>
                <a:latin typeface="Calibri" pitchFamily="34" charset="0"/>
                <a:ea typeface="Calibri" pitchFamily="34" charset="-122"/>
                <a:cs typeface="Calibri" pitchFamily="34" charset="-120"/>
              </a:rPr>
              <a:t>— Branches</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/api/products  </a:t>
            </a:r>
            <a:r>
              <a:rPr lang="en-US" sz="1050" dirty="0">
                <a:solidFill>
                  <a:srgbClr val="3F3F46"/>
                </a:solidFill>
                <a:latin typeface="Calibri" pitchFamily="34" charset="0"/>
                <a:ea typeface="Calibri" pitchFamily="34" charset="-122"/>
                <a:cs typeface="Calibri" pitchFamily="34" charset="-120"/>
              </a:rPr>
              <a:t>— Products</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/api/card-types  </a:t>
            </a:r>
            <a:r>
              <a:rPr lang="en-US" sz="1050" dirty="0">
                <a:solidFill>
                  <a:srgbClr val="3F3F46"/>
                </a:solidFill>
                <a:latin typeface="Calibri" pitchFamily="34" charset="0"/>
                <a:ea typeface="Calibri" pitchFamily="34" charset="-122"/>
                <a:cs typeface="Calibri" pitchFamily="34" charset="-120"/>
              </a:rPr>
              <a:t>— Card types</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/api/limit-profiles  </a:t>
            </a:r>
            <a:r>
              <a:rPr lang="en-US" sz="1050" dirty="0">
                <a:solidFill>
                  <a:srgbClr val="3F3F46"/>
                </a:solidFill>
                <a:latin typeface="Calibri" pitchFamily="34" charset="0"/>
                <a:ea typeface="Calibri" pitchFamily="34" charset="-122"/>
                <a:cs typeface="Calibri" pitchFamily="34" charset="-120"/>
              </a:rPr>
              <a:t>— Limit profiles</a:t>
            </a:r>
            <a:endParaRPr lang="en-US" sz="1050" dirty="0"/>
          </a:p>
        </p:txBody>
      </p:sp>
      <p:sp>
        <p:nvSpPr>
          <p:cNvPr id="9" name="Shape 7"/>
          <p:cNvSpPr/>
          <p:nvPr/>
        </p:nvSpPr>
        <p:spPr>
          <a:xfrm>
            <a:off x="6035040" y="146304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Card types configuration screen"/>
          <p:cNvPicPr>
            <a:picLocks noChangeAspect="1"/>
          </p:cNvPicPr>
          <p:nvPr/>
        </p:nvPicPr>
        <p:blipFill>
          <a:blip r:embed="rId3"/>
          <a:srcRect/>
          <a:stretch/>
        </p:blipFill>
        <p:spPr>
          <a:xfrm>
            <a:off x="6144768" y="1572768"/>
            <a:ext cx="5266944" cy="2112264"/>
          </a:xfrm>
          <a:prstGeom prst="rect">
            <a:avLst/>
          </a:prstGeom>
        </p:spPr>
      </p:pic>
      <p:sp>
        <p:nvSpPr>
          <p:cNvPr id="11" name="Shape 8"/>
          <p:cNvSpPr/>
          <p:nvPr/>
        </p:nvSpPr>
        <p:spPr>
          <a:xfrm>
            <a:off x="6035040" y="393192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2" name="Image 1" descr="Limit profiles configuration screen"/>
          <p:cNvPicPr>
            <a:picLocks noChangeAspect="1"/>
          </p:cNvPicPr>
          <p:nvPr/>
        </p:nvPicPr>
        <p:blipFill>
          <a:blip r:embed="rId4"/>
          <a:srcRect/>
          <a:stretch/>
        </p:blipFill>
        <p:spPr>
          <a:xfrm>
            <a:off x="6144768" y="4041648"/>
            <a:ext cx="5266944" cy="2112264"/>
          </a:xfrm>
          <a:prstGeom prst="rect">
            <a:avLst/>
          </a:prstGeom>
        </p:spPr>
      </p:pic>
      <p:sp>
        <p:nvSpPr>
          <p:cNvPr id="13" name="Text 9"/>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4" name="Text 10"/>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20 / 27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FLOW 5.12</a:t>
            </a:r>
            <a:endParaRPr lang="en-US" sz="1200" dirty="0"/>
          </a:p>
        </p:txBody>
      </p:sp>
      <p:sp>
        <p:nvSpPr>
          <p:cNvPr id="4" name="Text 2"/>
          <p:cNvSpPr/>
          <p:nvPr/>
        </p:nvSpPr>
        <p:spPr>
          <a:xfrm>
            <a:off x="640080" y="932688"/>
            <a:ext cx="10881360" cy="685800"/>
          </a:xfrm>
          <a:prstGeom prst="rect">
            <a:avLst/>
          </a:prstGeom>
          <a:noFill/>
          <a:ln/>
        </p:spPr>
        <p:txBody>
          <a:bodyPr wrap="square" rtlCol="0" anchor="t"/>
          <a:lstStyle/>
          <a:p>
            <a:pPr marL="0" indent="0">
              <a:buNone/>
            </a:pPr>
            <a:r>
              <a:rPr lang="en-US" sz="2700" b="1" dirty="0">
                <a:solidFill>
                  <a:srgbClr val="1A1A1A"/>
                </a:solidFill>
                <a:latin typeface="Calibri" pitchFamily="34" charset="0"/>
                <a:ea typeface="Calibri" pitchFamily="34" charset="-122"/>
                <a:cs typeface="Calibri" pitchFamily="34" charset="-120"/>
              </a:rPr>
              <a:t>Security &amp; Access Control</a:t>
            </a:r>
            <a:endParaRPr lang="en-US" sz="2700" dirty="0"/>
          </a:p>
        </p:txBody>
      </p:sp>
      <p:sp>
        <p:nvSpPr>
          <p:cNvPr id="5" name="Text 3"/>
          <p:cNvSpPr/>
          <p:nvPr/>
        </p:nvSpPr>
        <p:spPr>
          <a:xfrm>
            <a:off x="640080" y="1572768"/>
            <a:ext cx="5120640" cy="685800"/>
          </a:xfrm>
          <a:prstGeom prst="rect">
            <a:avLst/>
          </a:prstGeom>
          <a:noFill/>
          <a:ln/>
        </p:spPr>
        <p:txBody>
          <a:bodyPr wrap="square" lIns="0" tIns="0" rIns="0" bIns="0" rtlCol="0" anchor="t"/>
          <a:lstStyle/>
          <a:p>
            <a:pPr marL="0" indent="0">
              <a:buNone/>
            </a:pPr>
            <a:r>
              <a:rPr lang="en-US" sz="1250" b="1" dirty="0">
                <a:solidFill>
                  <a:srgbClr val="E31E24"/>
                </a:solidFill>
              </a:rPr>
              <a:t>Purpose:  </a:t>
            </a:r>
            <a:r>
              <a:rPr lang="en-US" sz="1250" dirty="0">
                <a:solidFill>
                  <a:srgbClr val="3F3F46"/>
                </a:solidFill>
              </a:rPr>
              <a:t>Manage who can access LasPay CMS and exactly what actions they can perform.</a:t>
            </a:r>
            <a:endParaRPr lang="en-US" sz="1250" dirty="0"/>
          </a:p>
        </p:txBody>
      </p:sp>
      <p:sp>
        <p:nvSpPr>
          <p:cNvPr id="6" name="Text 4"/>
          <p:cNvSpPr/>
          <p:nvPr/>
        </p:nvSpPr>
        <p:spPr>
          <a:xfrm>
            <a:off x="640080" y="2286000"/>
            <a:ext cx="5120640" cy="1600200"/>
          </a:xfrm>
          <a:prstGeom prst="rect">
            <a:avLst/>
          </a:prstGeom>
          <a:noFill/>
          <a:ln/>
        </p:spPr>
        <p:txBody>
          <a:bodyPr wrap="square" lIns="0" tIns="0" rIns="0" bIns="0" rtlCol="0" anchor="t"/>
          <a:lstStyle/>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Users, Roles, Permissions, and Menus configured centrally</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Every user needs at least one active role to sign in</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Menu visibility is driven directly by each user's role</a:t>
            </a:r>
            <a:endParaRPr lang="en-US" sz="1350" dirty="0"/>
          </a:p>
          <a:p>
            <a:pPr marL="203200" indent="-203200">
              <a:spcAft>
                <a:spcPts val="700"/>
              </a:spcAft>
              <a:buClr>
                <a:srgbClr val="E31E24"/>
              </a:buClr>
              <a:buSzPct val="100000"/>
              <a:buChar char="●"/>
            </a:pPr>
            <a:r>
              <a:rPr lang="en-US" sz="1350" dirty="0">
                <a:solidFill>
                  <a:srgbClr val="3F3F46"/>
                </a:solidFill>
                <a:latin typeface="Calibri" pitchFamily="34" charset="0"/>
                <a:ea typeface="Calibri" pitchFamily="34" charset="-122"/>
                <a:cs typeface="Calibri" pitchFamily="34" charset="-120"/>
              </a:rPr>
              <a:t>Permission checks are enforced on every protected action, not just the menu</a:t>
            </a:r>
            <a:endParaRPr lang="en-US" sz="1350" dirty="0"/>
          </a:p>
        </p:txBody>
      </p:sp>
      <p:sp>
        <p:nvSpPr>
          <p:cNvPr id="7" name="Text 5"/>
          <p:cNvSpPr/>
          <p:nvPr/>
        </p:nvSpPr>
        <p:spPr>
          <a:xfrm>
            <a:off x="640080" y="3977640"/>
            <a:ext cx="5120640" cy="274320"/>
          </a:xfrm>
          <a:prstGeom prst="rect">
            <a:avLst/>
          </a:prstGeom>
          <a:noFill/>
          <a:ln/>
        </p:spPr>
        <p:txBody>
          <a:bodyPr wrap="square" rtlCol="0" anchor="ctr"/>
          <a:lstStyle/>
          <a:p>
            <a:pPr marL="0" indent="0">
              <a:buNone/>
            </a:pPr>
            <a:r>
              <a:rPr lang="en-US" sz="1300" b="1" dirty="0">
                <a:solidFill>
                  <a:srgbClr val="E31E24"/>
                </a:solidFill>
                <a:latin typeface="Calibri" pitchFamily="34" charset="0"/>
                <a:ea typeface="Calibri" pitchFamily="34" charset="-122"/>
                <a:cs typeface="Calibri" pitchFamily="34" charset="-120"/>
              </a:rPr>
              <a:t>APIs</a:t>
            </a:r>
            <a:endParaRPr lang="en-US" sz="1300" dirty="0"/>
          </a:p>
        </p:txBody>
      </p:sp>
      <p:sp>
        <p:nvSpPr>
          <p:cNvPr id="8" name="Text 6"/>
          <p:cNvSpPr/>
          <p:nvPr/>
        </p:nvSpPr>
        <p:spPr>
          <a:xfrm>
            <a:off x="640080" y="4270248"/>
            <a:ext cx="5120640" cy="2039112"/>
          </a:xfrm>
          <a:prstGeom prst="rect">
            <a:avLst/>
          </a:prstGeom>
          <a:noFill/>
          <a:ln/>
        </p:spPr>
        <p:txBody>
          <a:bodyPr wrap="square" lIns="0" tIns="0" rIns="0" bIns="0" rtlCol="0" anchor="t"/>
          <a:lstStyle/>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/api/users  </a:t>
            </a:r>
            <a:r>
              <a:rPr lang="en-US" sz="1050" dirty="0">
                <a:solidFill>
                  <a:srgbClr val="3F3F46"/>
                </a:solidFill>
                <a:latin typeface="Calibri" pitchFamily="34" charset="0"/>
                <a:ea typeface="Calibri" pitchFamily="34" charset="-122"/>
                <a:cs typeface="Calibri" pitchFamily="34" charset="-120"/>
              </a:rPr>
              <a:t>— User management</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/api/roles  </a:t>
            </a:r>
            <a:r>
              <a:rPr lang="en-US" sz="1050" dirty="0">
                <a:solidFill>
                  <a:srgbClr val="3F3F46"/>
                </a:solidFill>
                <a:latin typeface="Calibri" pitchFamily="34" charset="0"/>
                <a:ea typeface="Calibri" pitchFamily="34" charset="-122"/>
                <a:cs typeface="Calibri" pitchFamily="34" charset="-120"/>
              </a:rPr>
              <a:t>— Roles</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/api/permissions  </a:t>
            </a:r>
            <a:r>
              <a:rPr lang="en-US" sz="1050" dirty="0">
                <a:solidFill>
                  <a:srgbClr val="3F3F46"/>
                </a:solidFill>
                <a:latin typeface="Calibri" pitchFamily="34" charset="0"/>
                <a:ea typeface="Calibri" pitchFamily="34" charset="-122"/>
                <a:cs typeface="Calibri" pitchFamily="34" charset="-120"/>
              </a:rPr>
              <a:t>— Permissions</a:t>
            </a:r>
            <a:endParaRPr lang="en-US" sz="1050" dirty="0"/>
          </a:p>
          <a:p>
            <a:pPr marL="0" indent="0">
              <a:buNone/>
            </a:pPr>
            <a:r>
              <a:rPr lang="en-US" sz="1050" b="1" dirty="0">
                <a:solidFill>
                  <a:srgbClr val="6B7280"/>
                </a:solidFill>
                <a:latin typeface="Courier New" pitchFamily="34" charset="0"/>
                <a:ea typeface="Courier New" pitchFamily="34" charset="-122"/>
                <a:cs typeface="Courier New" pitchFamily="34" charset="-120"/>
              </a:rPr>
              <a:t>CRUD  </a:t>
            </a:r>
            <a:r>
              <a:rPr lang="en-US" sz="1050" dirty="0">
                <a:solidFill>
                  <a:srgbClr val="C85A5C"/>
                </a:solidFill>
                <a:latin typeface="Courier New" pitchFamily="34" charset="0"/>
                <a:ea typeface="Courier New" pitchFamily="34" charset="-122"/>
                <a:cs typeface="Courier New" pitchFamily="34" charset="-120"/>
              </a:rPr>
              <a:t>/api/menus  </a:t>
            </a:r>
            <a:r>
              <a:rPr lang="en-US" sz="1050" dirty="0">
                <a:solidFill>
                  <a:srgbClr val="3F3F46"/>
                </a:solidFill>
                <a:latin typeface="Calibri" pitchFamily="34" charset="0"/>
                <a:ea typeface="Calibri" pitchFamily="34" charset="-122"/>
                <a:cs typeface="Calibri" pitchFamily="34" charset="-120"/>
              </a:rPr>
              <a:t>— Menu configuration</a:t>
            </a:r>
            <a:endParaRPr lang="en-US" sz="1050" dirty="0"/>
          </a:p>
          <a:p>
            <a:pPr marL="0" indent="0">
              <a:buNone/>
            </a:pPr>
            <a:r>
              <a:rPr lang="en-US" sz="1050" b="1" dirty="0">
                <a:solidFill>
                  <a:srgbClr val="15803D"/>
                </a:solidFill>
                <a:latin typeface="Courier New" pitchFamily="34" charset="0"/>
                <a:ea typeface="Courier New" pitchFamily="34" charset="-122"/>
                <a:cs typeface="Courier New" pitchFamily="34" charset="-120"/>
              </a:rPr>
              <a:t>POST  </a:t>
            </a:r>
            <a:r>
              <a:rPr lang="en-US" sz="1050" dirty="0">
                <a:solidFill>
                  <a:srgbClr val="C85A5C"/>
                </a:solidFill>
                <a:latin typeface="Courier New" pitchFamily="34" charset="0"/>
                <a:ea typeface="Courier New" pitchFamily="34" charset="-122"/>
                <a:cs typeface="Courier New" pitchFamily="34" charset="-120"/>
              </a:rPr>
              <a:t>/api/users/{id}/roles  </a:t>
            </a:r>
            <a:r>
              <a:rPr lang="en-US" sz="1050" dirty="0">
                <a:solidFill>
                  <a:srgbClr val="3F3F46"/>
                </a:solidFill>
                <a:latin typeface="Calibri" pitchFamily="34" charset="0"/>
                <a:ea typeface="Calibri" pitchFamily="34" charset="-122"/>
                <a:cs typeface="Calibri" pitchFamily="34" charset="-120"/>
              </a:rPr>
              <a:t>— Assign roles to user</a:t>
            </a:r>
            <a:endParaRPr lang="en-US" sz="1050" dirty="0"/>
          </a:p>
        </p:txBody>
      </p:sp>
      <p:sp>
        <p:nvSpPr>
          <p:cNvPr id="9" name="Shape 7"/>
          <p:cNvSpPr/>
          <p:nvPr/>
        </p:nvSpPr>
        <p:spPr>
          <a:xfrm>
            <a:off x="6035040" y="146304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0" name="Image 0" descr="Permissions configuration screen"/>
          <p:cNvPicPr>
            <a:picLocks noChangeAspect="1"/>
          </p:cNvPicPr>
          <p:nvPr/>
        </p:nvPicPr>
        <p:blipFill>
          <a:blip r:embed="rId3"/>
          <a:srcRect/>
          <a:stretch/>
        </p:blipFill>
        <p:spPr>
          <a:xfrm>
            <a:off x="6144768" y="1572768"/>
            <a:ext cx="5266944" cy="2112264"/>
          </a:xfrm>
          <a:prstGeom prst="rect">
            <a:avLst/>
          </a:prstGeom>
        </p:spPr>
      </p:pic>
      <p:sp>
        <p:nvSpPr>
          <p:cNvPr id="11" name="Shape 8"/>
          <p:cNvSpPr/>
          <p:nvPr/>
        </p:nvSpPr>
        <p:spPr>
          <a:xfrm>
            <a:off x="6035040" y="3931920"/>
            <a:ext cx="5486400" cy="2331720"/>
          </a:xfrm>
          <a:prstGeom prst="roundRect">
            <a:avLst>
              <a:gd name="adj" fmla="val 2353"/>
            </a:avLst>
          </a:prstGeom>
          <a:solidFill>
            <a:srgbClr val="FFFFFF"/>
          </a:solidFill>
          <a:ln w="12700">
            <a:solidFill>
              <a:srgbClr val="E8E4E2"/>
            </a:solidFill>
            <a:prstDash val="solid"/>
          </a:ln>
          <a:effectLst>
            <a:outerShdw blurRad="76200" dist="25400" dir="5400000" algn="bl" rotWithShape="0">
              <a:srgbClr val="999999">
                <a:alpha val="25000"/>
              </a:srgbClr>
            </a:outerShdw>
          </a:effectLst>
        </p:spPr>
      </p:sp>
      <p:pic>
        <p:nvPicPr>
          <p:cNvPr id="12" name="Image 1" descr="Menu configuration screen"/>
          <p:cNvPicPr>
            <a:picLocks noChangeAspect="1"/>
          </p:cNvPicPr>
          <p:nvPr/>
        </p:nvPicPr>
        <p:blipFill>
          <a:blip r:embed="rId4"/>
          <a:srcRect/>
          <a:stretch/>
        </p:blipFill>
        <p:spPr>
          <a:xfrm>
            <a:off x="6144768" y="4041648"/>
            <a:ext cx="5266944" cy="2112264"/>
          </a:xfrm>
          <a:prstGeom prst="rect">
            <a:avLst/>
          </a:prstGeom>
        </p:spPr>
      </p:pic>
      <p:sp>
        <p:nvSpPr>
          <p:cNvPr id="13" name="Text 9"/>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14" name="Text 10"/>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21 / 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REFERENCE</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One Platform, Five Modules, Full Coverage</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Home — the operational dashboard</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Security — users, roles, permissions, menus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Operations — search, status, replacement, type change, export</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Card Production &amp; Housekeeping — request, approve, generate, configure</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22 / 27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TECHNICAL INTEGRATION</a:t>
            </a:r>
            <a:endParaRPr lang="en-US" sz="1200" dirty="0"/>
          </a:p>
        </p:txBody>
      </p:sp>
      <p:sp>
        <p:nvSpPr>
          <p:cNvPr id="4" name="Text 2"/>
          <p:cNvSpPr/>
          <p:nvPr/>
        </p:nvSpPr>
        <p:spPr>
          <a:xfrm>
            <a:off x="640080" y="841248"/>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REST API Layer: The Short Version</a:t>
            </a:r>
            <a:endParaRPr lang="en-US" sz="3000" dirty="0"/>
          </a:p>
        </p:txBody>
      </p:sp>
      <p:sp>
        <p:nvSpPr>
          <p:cNvPr id="5" name="Text 3"/>
          <p:cNvSpPr/>
          <p:nvPr/>
        </p:nvSpPr>
        <p:spPr>
          <a:xfrm>
            <a:off x="640080" y="1965960"/>
            <a:ext cx="10881360" cy="3291840"/>
          </a:xfrm>
          <a:prstGeom prst="rect">
            <a:avLst/>
          </a:prstGeom>
          <a:noFill/>
          <a:ln/>
        </p:spPr>
        <p:txBody>
          <a:bodyPr wrap="square" lIns="0" tIns="0" rIns="0" bIns="0" rtlCol="0" anchor="t"/>
          <a:lstStyle/>
          <a:p>
            <a:pPr marL="203200" indent="-203200">
              <a:spcAft>
                <a:spcPts val="1600"/>
              </a:spcAft>
              <a:buClr>
                <a:srgbClr val="E31E24"/>
              </a:buClr>
              <a:buSzPct val="100000"/>
              <a:buChar char="●"/>
            </a:pPr>
            <a:r>
              <a:rPr lang="en-US" sz="1900" dirty="0">
                <a:solidFill>
                  <a:srgbClr val="3F3F46"/>
                </a:solidFill>
                <a:latin typeface="Calibri" pitchFamily="34" charset="0"/>
                <a:ea typeface="Calibri" pitchFamily="34" charset="-122"/>
                <a:cs typeface="Calibri" pitchFamily="34" charset="-120"/>
              </a:rPr>
              <a:t>core-service REST API, every endpoint under /api/, secured with JWT Bearer authentication</a:t>
            </a:r>
            <a:endParaRPr lang="en-US" sz="1900" dirty="0"/>
          </a:p>
          <a:p>
            <a:pPr marL="203200" indent="-203200">
              <a:spcAft>
                <a:spcPts val="1600"/>
              </a:spcAft>
              <a:buClr>
                <a:srgbClr val="E31E24"/>
              </a:buClr>
              <a:buSzPct val="100000"/>
              <a:buChar char="●"/>
            </a:pPr>
            <a:r>
              <a:rPr lang="en-US" sz="1900" dirty="0">
                <a:solidFill>
                  <a:srgbClr val="3F3F46"/>
                </a:solidFill>
                <a:latin typeface="Calibri" pitchFamily="34" charset="0"/>
                <a:ea typeface="Calibri" pitchFamily="34" charset="-122"/>
                <a:cs typeface="Calibri" pitchFamily="34" charset="-120"/>
              </a:rPr>
              <a:t>Each flow slide in this deck already lists its key APIs alongside the screen</a:t>
            </a:r>
            <a:endParaRPr lang="en-US" sz="1900" dirty="0"/>
          </a:p>
          <a:p>
            <a:pPr marL="203200" indent="-203200">
              <a:spcAft>
                <a:spcPts val="1600"/>
              </a:spcAft>
              <a:buClr>
                <a:srgbClr val="E31E24"/>
              </a:buClr>
              <a:buSzPct val="100000"/>
              <a:buChar char="●"/>
            </a:pPr>
            <a:r>
              <a:rPr lang="en-US" sz="1900" dirty="0">
                <a:solidFill>
                  <a:srgbClr val="3F3F46"/>
                </a:solidFill>
                <a:latin typeface="Calibri" pitchFamily="34" charset="0"/>
                <a:ea typeface="Calibri" pitchFamily="34" charset="-122"/>
                <a:cs typeface="Calibri" pitchFamily="34" charset="-120"/>
              </a:rPr>
              <a:t>Full endpoint contracts and live testing: Swagger UI at /swagger-ui.html</a:t>
            </a:r>
            <a:endParaRPr lang="en-US" sz="1900" dirty="0"/>
          </a:p>
          <a:p>
            <a:pPr marL="203200" indent="-203200">
              <a:spcAft>
                <a:spcPts val="1600"/>
              </a:spcAft>
              <a:buClr>
                <a:srgbClr val="E31E24"/>
              </a:buClr>
              <a:buSzPct val="100000"/>
              <a:buChar char="●"/>
            </a:pPr>
            <a:r>
              <a:rPr lang="en-US" sz="1900" dirty="0">
                <a:solidFill>
                  <a:srgbClr val="3F3F46"/>
                </a:solidFill>
                <a:latin typeface="Calibri" pitchFamily="34" charset="0"/>
                <a:ea typeface="Calibri" pitchFamily="34" charset="-122"/>
                <a:cs typeface="Calibri" pitchFamily="34" charset="-120"/>
              </a:rPr>
              <a:t>Complete API reference for engineering and integration: Business Guide Appendix A</a:t>
            </a:r>
            <a:endParaRPr lang="en-US" sz="19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23 / 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VALUE RECAP</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Why This Matters to the Business</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Reduces operational risk through system-enforced dual control</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Cuts manual, spreadsheet-driven processes across the full card lifecycle</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Gives leadership real-time visibility via the dashboard, not periodic reports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Centralised configuration lets the business launch products faster</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24 / 27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COMPLIANCE</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Security &amp; Compliance Summary</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Dual control on every card request — no exceptions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PAN always masked; encrypted at rest and in transit</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Role-based access enforced at both the screen and the API level</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Full audit trail supports internal and regulatory review</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25 / 27</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40080" y="457200"/>
            <a:ext cx="2377440" cy="329184"/>
          </a:xfrm>
          <a:prstGeom prst="roundRect">
            <a:avLst>
              <a:gd name="adj" fmla="val 50000"/>
            </a:avLst>
          </a:prstGeom>
          <a:solidFill>
            <a:srgbClr val="F4F2F1"/>
          </a:solidFill>
          <a:ln/>
        </p:spPr>
      </p:sp>
      <p:sp>
        <p:nvSpPr>
          <p:cNvPr id="3" name="Text 1"/>
          <p:cNvSpPr/>
          <p:nvPr/>
        </p:nvSpPr>
        <p:spPr>
          <a:xfrm>
            <a:off x="640080" y="457200"/>
            <a:ext cx="2377440" cy="329184"/>
          </a:xfrm>
          <a:prstGeom prst="rect">
            <a:avLst/>
          </a:prstGeom>
          <a:noFill/>
          <a:ln/>
        </p:spPr>
        <p:txBody>
          <a:bodyPr wrap="square" rtlCol="0" anchor="ctr"/>
          <a:lstStyle/>
          <a:p>
            <a:pPr marL="0" indent="0" algn="ctr">
              <a:buNone/>
            </a:pPr>
            <a:r>
              <a:rPr lang="en-US" sz="1200" b="1" kern="0" spc="100" dirty="0">
                <a:solidFill>
                  <a:srgbClr val="E31E24"/>
                </a:solidFill>
                <a:latin typeface="Calibri" pitchFamily="34" charset="0"/>
                <a:ea typeface="Calibri" pitchFamily="34" charset="-122"/>
                <a:cs typeface="Calibri" pitchFamily="34" charset="-120"/>
              </a:rPr>
              <a:t>NEXT STEPS</a:t>
            </a:r>
            <a:endParaRPr lang="en-US" sz="1200" dirty="0"/>
          </a:p>
        </p:txBody>
      </p:sp>
      <p:sp>
        <p:nvSpPr>
          <p:cNvPr id="4" name="Text 2"/>
          <p:cNvSpPr/>
          <p:nvPr/>
        </p:nvSpPr>
        <p:spPr>
          <a:xfrm>
            <a:off x="640080" y="960120"/>
            <a:ext cx="10881360" cy="685800"/>
          </a:xfrm>
          <a:prstGeom prst="rect">
            <a:avLst/>
          </a:prstGeom>
          <a:noFill/>
          <a:ln/>
        </p:spPr>
        <p:txBody>
          <a:bodyPr wrap="square" rtlCol="0" anchor="t"/>
          <a:lstStyle/>
          <a:p>
            <a:pPr marL="0" indent="0">
              <a:buNone/>
            </a:pPr>
            <a:r>
              <a:rPr lang="en-US" sz="3000" b="1" dirty="0">
                <a:solidFill>
                  <a:srgbClr val="1A1A1A"/>
                </a:solidFill>
                <a:latin typeface="Calibri" pitchFamily="34" charset="0"/>
                <a:ea typeface="Calibri" pitchFamily="34" charset="-122"/>
                <a:cs typeface="Calibri" pitchFamily="34" charset="-120"/>
              </a:rPr>
              <a:t>Roadmap &amp; Next Steps</a:t>
            </a:r>
            <a:endParaRPr lang="en-US" sz="3000" dirty="0"/>
          </a:p>
        </p:txBody>
      </p:sp>
      <p:sp>
        <p:nvSpPr>
          <p:cNvPr id="5" name="Text 3"/>
          <p:cNvSpPr/>
          <p:nvPr/>
        </p:nvSpPr>
        <p:spPr>
          <a:xfrm>
            <a:off x="640080" y="1874520"/>
            <a:ext cx="10881360" cy="4206240"/>
          </a:xfrm>
          <a:prstGeom prst="rect">
            <a:avLst/>
          </a:prstGeom>
          <a:noFill/>
          <a:ln/>
        </p:spPr>
        <p:txBody>
          <a:bodyPr wrap="square" lIns="0" tIns="0" rIns="0" bIns="0" rtlCol="0" anchor="t"/>
          <a:lstStyle/>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Complete UAT sign-off with business and QA stakeholders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Finalise role and permission mapping for go-live users</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Schedule operator training on the screens covered today</a:t>
            </a:r>
            <a:endParaRPr lang="en-US" sz="2000" dirty="0"/>
          </a:p>
          <a:p>
            <a:pPr marL="203200" indent="-203200">
              <a:spcAft>
                <a:spcPts val="1400"/>
              </a:spcAft>
              <a:buClr>
                <a:srgbClr val="E31E24"/>
              </a:buClr>
              <a:buSzPct val="100000"/>
              <a:buChar char="●"/>
            </a:pPr>
            <a:r>
              <a:rPr lang="en-US" sz="2000" dirty="0">
                <a:solidFill>
                  <a:srgbClr val="3F3F46"/>
                </a:solidFill>
                <a:latin typeface="Calibri" pitchFamily="34" charset="0"/>
                <a:ea typeface="Calibri" pitchFamily="34" charset="-122"/>
                <a:cs typeface="Calibri" pitchFamily="34" charset="-120"/>
              </a:rPr>
              <a:t>Agree go-live date and post-launch support model</a:t>
            </a:r>
            <a:endParaRPr lang="en-US" sz="200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1000" dirty="0">
                <a:solidFill>
                  <a:srgbClr val="71717A"/>
                </a:solidFill>
                <a:latin typeface="Calibri" pitchFamily="34" charset="0"/>
                <a:ea typeface="Calibri" pitchFamily="34" charset="-122"/>
                <a:cs typeface="Calibri" pitchFamily="34" charset="-120"/>
              </a:rPr>
              <a:t>LasPay Card Management System  |  Confidential</a:t>
            </a:r>
            <a:endParaRPr lang="en-US" sz="1000" dirty="0"/>
          </a:p>
        </p:txBody>
      </p:sp>
      <p:sp>
        <p:nvSpPr>
          <p:cNvPr id="7" name="Text 5"/>
          <p:cNvSpPr/>
          <p:nvPr/>
        </p:nvSpPr>
        <p:spPr>
          <a:xfrm>
            <a:off x="9902952" y="6473952"/>
            <a:ext cx="1828800" cy="274320"/>
          </a:xfrm>
          <a:prstGeom prst="rect">
            <a:avLst/>
          </a:prstGeom>
          <a:noFill/>
          <a:ln/>
        </p:spPr>
        <p:txBody>
          <a:bodyPr wrap="square" rtlCol="0" anchor="ctr"/>
          <a:lstStyle/>
          <a:p>
            <a:pPr marL="0" indent="0" algn="r">
              <a:buNone/>
            </a:pPr>
            <a:r>
              <a:rPr lang="en-US" sz="1000" dirty="0">
                <a:solidFill>
                  <a:srgbClr val="71717A"/>
                </a:solidFill>
                <a:latin typeface="Calibri" pitchFamily="34" charset="0"/>
                <a:ea typeface="Calibri" pitchFamily="34" charset="-122"/>
                <a:cs typeface="Calibri" pitchFamily="34" charset="-120"/>
              </a:rPr>
              <a:t>26 / 27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A"/>
          </a:solidFill>
          <a:ln/>
        </p:spPr>
      </p:sp>
      <p:sp>
        <p:nvSpPr>
          <p:cNvPr id="3" name="Text 1"/>
          <p:cNvSpPr/>
          <p:nvPr/>
        </p:nvSpPr>
        <p:spPr>
          <a:xfrm>
            <a:off x="822960" y="2468880"/>
            <a:ext cx="105156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4" name="Text 2"/>
          <p:cNvSpPr/>
          <p:nvPr/>
        </p:nvSpPr>
        <p:spPr>
          <a:xfrm>
            <a:off x="822960" y="3429000"/>
            <a:ext cx="10515600" cy="640080"/>
          </a:xfrm>
          <a:prstGeom prst="rect">
            <a:avLst/>
          </a:prstGeom>
          <a:noFill/>
          <a:ln/>
        </p:spPr>
        <p:txBody>
          <a:bodyPr wrap="square" rtlCol="0" anchor="ctr"/>
          <a:lstStyle/>
          <a:p>
            <a:pPr marL="0" indent="0">
              <a:buNone/>
            </a:pPr>
            <a:r>
              <a:rPr lang="en-US" sz="2200" dirty="0">
                <a:solidFill>
                  <a:srgbClr val="D4D4D8"/>
                </a:solidFill>
                <a:latin typeface="Calibri" pitchFamily="34" charset="0"/>
                <a:ea typeface="Calibri" pitchFamily="34" charset="-122"/>
                <a:cs typeface="Calibri" pitchFamily="34" charset="-120"/>
              </a:rPr>
              <a:t>Questions &amp; Discussion</a:t>
            </a:r>
            <a:endParaRPr lang="en-US" sz="2200" dirty="0"/>
          </a:p>
        </p:txBody>
      </p:sp>
      <p:sp>
        <p:nvSpPr>
          <p:cNvPr id="5" name="Shape 3"/>
          <p:cNvSpPr/>
          <p:nvPr/>
        </p:nvSpPr>
        <p:spPr>
          <a:xfrm>
            <a:off x="822960" y="4160520"/>
            <a:ext cx="502920" cy="73152"/>
          </a:xfrm>
          <a:prstGeom prst="rect">
            <a:avLst/>
          </a:prstGeom>
          <a:solidFill>
            <a:srgbClr val="E31E24"/>
          </a:solidFill>
          <a:ln/>
        </p:spPr>
      </p:sp>
      <p:sp>
        <p:nvSpPr>
          <p:cNvPr id="6" name="Text 4"/>
          <p:cNvSpPr/>
          <p:nvPr/>
        </p:nvSpPr>
        <p:spPr>
          <a:xfrm>
            <a:off x="822960" y="6126480"/>
            <a:ext cx="9144000" cy="365760"/>
          </a:xfrm>
          <a:prstGeom prst="rect">
            <a:avLst/>
          </a:prstGeom>
          <a:noFill/>
          <a:ln/>
        </p:spPr>
        <p:txBody>
          <a:bodyPr wrap="square" rtlCol="0" anchor="ctr"/>
          <a:lstStyle/>
          <a:p>
            <a:pPr marL="0" indent="0">
              <a:buNone/>
            </a:pPr>
            <a:r>
              <a:rPr lang="en-US" sz="1300" dirty="0">
                <a:solidFill>
                  <a:srgbClr val="A1A1AA"/>
                </a:solidFill>
                <a:latin typeface="Calibri" pitchFamily="34" charset="0"/>
                <a:ea typeface="Calibri" pitchFamily="34" charset="-122"/>
                <a:cs typeface="Calibri" pitchFamily="34" charset="-120"/>
              </a:rPr>
              <a:t>LasPay Card Management System   |   Karsaaz — CMS Delivery Team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4244</Words>
  <Application>Microsoft Office PowerPoint</Application>
  <PresentationFormat>Widescreen</PresentationFormat>
  <Paragraphs>329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rizwan yaqoob</cp:lastModifiedBy>
  <cp:revision>2</cp:revision>
  <dcterms:created xsi:type="dcterms:W3CDTF">2026-08-19T20:50:16Z</dcterms:created>
  <dcterms:modified xsi:type="dcterms:W3CDTF">2026-08-19T20:54:41Z</dcterms:modified>
</cp:coreProperties>
</file>